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731520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Georgia"/>
              </a:defRPr>
            </a:pPr>
            <a:r>
              <a:t>MENUZ</a:t>
            </a:r>
          </a:p>
          <a:p>
            <a:pPr>
              <a:spcBef>
                <a:spcPts val="1000"/>
              </a:spcBef>
              <a:defRPr sz="2600">
                <a:solidFill>
                  <a:srgbClr val="E85D04"/>
                </a:solidFill>
                <a:latin typeface="Georgia"/>
              </a:defRPr>
            </a:pPr>
            <a:r>
              <a:t>The Complete Dine-In Operating System &amp; Growth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7E5E4"/>
                </a:solidFill>
                <a:latin typeface="Arial"/>
              </a:defRPr>
            </a:pPr>
            <a:r>
              <a:t>Everything a Modern Restaurant Needs: Interactive Menus, Real-Time Table Sync, Chef AI, Direct Kitchen KOT, and Owner-Configurable Viral Growth.</a:t>
            </a:r>
          </a:p>
          <a:p>
            <a:pPr>
              <a:spcBef>
                <a:spcPts val="800"/>
              </a:spcBef>
              <a:defRPr sz="1300">
                <a:solidFill>
                  <a:srgbClr val="A8A29E"/>
                </a:solidFill>
                <a:latin typeface="Arial"/>
              </a:defRPr>
            </a:pPr>
            <a:r>
              <a:t>What Exactly Is This Product? • Complete Feature Breakdown &amp; Architectural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8716C"/>
                </a:solidFill>
                <a:latin typeface="Arial"/>
              </a:defRPr>
            </a:pPr>
            <a:r>
              <a:t>CONFIDENTIAL EXECUTIVE PRODUCT OVERVIEW • 2026 EDITION • MENUZ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PRODUCT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C1917"/>
                </a:solidFill>
                <a:latin typeface="Georgia"/>
              </a:defRPr>
            </a:pPr>
            <a:r>
              <a:t>What Exactly Is Menuz?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57534E"/>
                </a:solidFill>
                <a:latin typeface="Arial"/>
              </a:defRPr>
            </a:pPr>
            <a:r>
              <a:t>An all-in-one web-based operating system that transforms dine-in tables into high-speed, high-margin, viral dining hubs.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871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5D04"/>
                </a:solidFill>
                <a:latin typeface="Georgia"/>
              </a:defRPr>
            </a:pPr>
            <a:r>
              <a:t>1. Digital Interactive Menu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Zero app download. Diners scan table QR code to explore high-res dishes, calibrated spice meters, calorie counts, chef secret notes, and dietary filters.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2841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871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5D04"/>
                </a:solidFill>
                <a:latin typeface="Georgia"/>
              </a:defRPr>
            </a:pPr>
            <a:r>
              <a:t>2. Real-Time Multiplayer Sync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Everyone at Table 4 co-orders together in real-time. Live shared cart tray with guest tags prevents duplicate orders and unifies billing.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2841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871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5D04"/>
                </a:solidFill>
                <a:latin typeface="Georgia"/>
              </a:defRPr>
            </a:pPr>
            <a:r>
              <a:t>3. Chef AI Concierge &amp; Upsells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Trained on head chef's marinades and owner's upsell rules. Suggests high-margin wine, mocktail, and side pairings (+22% average check).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332841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43400"/>
            <a:ext cx="2871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5D04"/>
                </a:solidFill>
                <a:latin typeface="Georgia"/>
              </a:defRPr>
            </a:pPr>
            <a:r>
              <a:t>4. Direct Kitchen KOT Routing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Owner-controlled: Send orders directly to kitchen thermal printers in 1 second (Mode A) or route to floor captain for approval (Mode B).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4114800"/>
            <a:ext cx="332841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4343400"/>
            <a:ext cx="2871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5D04"/>
                </a:solidFill>
                <a:latin typeface="Georgia"/>
              </a:defRPr>
            </a:pPr>
            <a:r>
              <a:t>5. Owner-Configurable Viral Growth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Owner chooses: unlock table rewards via 5-Star Google Reviews OR 9:16 Instagram Stories with restaurant tags.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114800"/>
            <a:ext cx="332841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343400"/>
            <a:ext cx="2871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5D04"/>
                </a:solidFill>
                <a:latin typeface="Georgia"/>
              </a:defRPr>
            </a:pPr>
            <a:r>
              <a:t>6. Floor Operations &amp; Service SOS</a:t>
            </a:r>
          </a:p>
          <a:p>
            <a:pPr>
              <a:spcBef>
                <a:spcPts val="800"/>
              </a:spcBef>
              <a:defRPr sz="1100">
                <a:solidFill>
                  <a:srgbClr val="57534E"/>
                </a:solidFill>
                <a:latin typeface="Arial"/>
              </a:defRPr>
            </a:pPr>
            <a:r>
              <a:t>Waiters called with 1 tap ('Call Waiter', 'Water', 'Bill'). Real-time manager tablet hub for table occupancy and prep timers.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DINER TABLE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Georgia"/>
              </a:defRPr>
            </a:pPr>
            <a:r>
              <a:t>Visual Digital Menu: Engaging Appetites Before Ordering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D6D3D1"/>
                </a:solidFill>
                <a:latin typeface="Arial"/>
              </a:defRPr>
            </a:pPr>
            <a:r>
              <a:t>Replacing flat paper text with rich culinary storytelling, calibrated heat meters, and smart dietary tags.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29768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E85D04"/>
                </a:solidFill>
                <a:latin typeface="Georgia"/>
              </a:defRPr>
            </a:pPr>
            <a:r>
              <a:t>Visual Menu Architecture</a:t>
            </a:r>
          </a:p>
          <a:p>
            <a:pPr>
              <a:spcBef>
                <a:spcPts val="800"/>
              </a:spcBef>
              <a:defRPr sz="1050">
                <a:solidFill>
                  <a:srgbClr val="D6D3D1"/>
                </a:solidFill>
                <a:latin typeface="Arial"/>
              </a:defRPr>
            </a:pPr>
            <a:r>
              <a:t>• High-Resolution Photography: Every signature dish showcases authentic culinary plating, driving immediate appetite stimulation.</a:t>
            </a:r>
          </a:p>
          <a:p>
            <a:pPr>
              <a:spcBef>
                <a:spcPts val="800"/>
              </a:spcBef>
              <a:defRPr sz="1050">
                <a:solidFill>
                  <a:srgbClr val="D6D3D1"/>
                </a:solidFill>
                <a:latin typeface="Arial"/>
              </a:defRPr>
            </a:pPr>
            <a:r>
              <a:t>• Spice Meter Calibration (1-5): Clear visual heat rating (1 = Mild Cashew Cream, 5 = Fiery Guntur Chili) prevents customer spice mismatch.</a:t>
            </a:r>
          </a:p>
          <a:p>
            <a:pPr>
              <a:spcBef>
                <a:spcPts val="800"/>
              </a:spcBef>
              <a:defRPr sz="1050">
                <a:solidFill>
                  <a:srgbClr val="D6D3D1"/>
                </a:solidFill>
                <a:latin typeface="Arial"/>
              </a:defRPr>
            </a:pPr>
            <a:r>
              <a:t>• Calorie &amp; Nutritional Info: Calorie counters and macro indicators for health-conscious diners.</a:t>
            </a:r>
          </a:p>
          <a:p>
            <a:pPr>
              <a:spcBef>
                <a:spcPts val="800"/>
              </a:spcBef>
              <a:defRPr sz="1050">
                <a:solidFill>
                  <a:srgbClr val="D6D3D1"/>
                </a:solidFill>
                <a:latin typeface="Arial"/>
              </a:defRPr>
            </a:pPr>
            <a:r>
              <a:t>• Dietary &amp; Allergen Badges: Instant filtering for Pure Veg (🟢), Non-Veg (🔴), Vegan, Jain (नो रूट वेजिटेबल्स), and 100% Gluten-Free items.</a:t>
            </a:r>
          </a:p>
          <a:p>
            <a:pPr>
              <a:spcBef>
                <a:spcPts val="800"/>
              </a:spcBef>
              <a:defRPr sz="1050">
                <a:solidFill>
                  <a:srgbClr val="D6D3D1"/>
                </a:solidFill>
                <a:latin typeface="Arial"/>
              </a:defRPr>
            </a:pPr>
            <a:r>
              <a:t>• Chef's Secret Notes &amp; Lore: Shares slow-braising times, charcoal tandoor techniques, and hand-ground spice stories directly with guests.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429768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9669"/>
                </a:solidFill>
                <a:latin typeface="Georgia"/>
              </a:defRPr>
            </a:pPr>
            <a:r>
              <a:t>Table Service Controls</a:t>
            </a:r>
          </a:p>
          <a:p>
            <a:pPr>
              <a:spcBef>
                <a:spcPts val="12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✓ 1-Tap Waiter Call System: Diners never wave their hands frantically. 1 button tap dispatches instant notification: 'Table 4 needs assistance'.</a:t>
            </a:r>
          </a:p>
          <a:p>
            <a:pPr>
              <a:spcBef>
                <a:spcPts val="12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✓ Specific Service Pings: Dedicated quick-actions: 'Request Water', 'Request Bill', 'Clean Table' alerts floor staff immediately.</a:t>
            </a:r>
          </a:p>
          <a:p>
            <a:pPr>
              <a:spcBef>
                <a:spcPts val="12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✓ Active Order Tracking: Guests view their live order status: 'Order Received', 'In Tandoor / Preparing', 'Served'.</a:t>
            </a:r>
          </a:p>
          <a:p>
            <a:pPr>
              <a:spcBef>
                <a:spcPts val="12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✓ Zero App Downloads: Runs entirely inside standard mobile browsers (Safari / Chrome) via lightweight PWA architecture.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MULTIPLAYER 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C1917"/>
                </a:solidFill>
                <a:latin typeface="Georgia"/>
              </a:defRPr>
            </a:pPr>
            <a:r>
              <a:t>Real-Time Table Sync: Group Dining Reimagined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57534E"/>
                </a:solidFill>
                <a:latin typeface="Arial"/>
              </a:defRPr>
            </a:pPr>
            <a:r>
              <a:t>Multiple phones at the same table add dishes together into one synchronized live cart.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Live Shared Table Tray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HOW IT WORKS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When a family or group sits at Table 4, everyone scans the QR code. All phones connect to the same shared table session via WebSockets with &lt;100ms sync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Clear Guest Attribution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WHO ORDERED WHAT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Every dish in the cart displays the diner's identifier ('👤 Guest 1 - Host', '👤 Guest 2 - Rohan'). Eliminates confusion over who ordered what dish.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Zero Duplicate Orders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KITCHEN EFFICIENCY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Table reviews the unified cart together before dispatch. Eliminates disjointed orders and ensures the kitchen receives one harmonious KOT.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AI DINING CONCIERGE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Georgia"/>
              </a:defRPr>
            </a:pPr>
            <a:r>
              <a:t>Chef AI Sommelier: Always Answering, Auto-Scrolling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D6D3D1"/>
                </a:solidFill>
                <a:latin typeface="Arial"/>
              </a:defRPr>
            </a:pPr>
            <a:r>
              <a:t>A personalized conversational AI trained directly on your head chef's recipes and owner's upsell rules.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29768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9966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E85D04"/>
                </a:solidFill>
                <a:latin typeface="Georgia"/>
              </a:defRPr>
            </a:pPr>
            <a:r>
              <a:t>Key Conversational Capabilities &amp; UX Upgrades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✨ Auto-Scroll Response UX: When a diner taps a suggestion chip (e.g. 'Is the Butter Chicken spicy?', 'Pair a wine with Dal Makhani'), the chat window automatically follows the response so the diner reads the answer without physical scrolling.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✨ Trained by Head Chef: Speaks with authentic authority on secret charcoal marinades, spice calibrations, and cooking times. Zero hallucinations — answers only from your verified recipe dataset.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✨ Trained by Restaurant Owner: Subtly steers diners toward high-margin coolers, tandoori breads, and signature house desserts, increasing table check size naturally.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✨ Allergy &amp; Dietary Guarantee: Verifies kitchen cross-contamination safety protocols for gluten-free, nut-free, and Jain requirements with 100% confidence.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REVENUE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C1917"/>
                </a:solidFill>
                <a:latin typeface="Georgia"/>
              </a:defRPr>
            </a:pPr>
            <a:r>
              <a:t>Smart Chef Pairings &amp; High-Margin Upsell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57534E"/>
                </a:solidFill>
                <a:latin typeface="Arial"/>
              </a:defRPr>
            </a:pPr>
            <a:r>
              <a:t>Increasing average ticket sizes by +22% with contextual beverage &amp; side bundle suggestions.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Contextual Pairing Suggestions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AUTOMATIC DETECTION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When a diner selects Awadhi Murgh Biryani, Menuz instantly surfaces the Chef's Recommended Pairing: Garlic Butter Naan + Royal Kokum Mint Cooler.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Promotional Bundle Deals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OWNER CONFIGURABLE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Owners configure bundle discounts (e.g. 10% to 15% off when added as a pair). Diners get exciting value while the restaurant sells more drinks and desserts.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1-Click In-Tray Quick Add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ZERO FRICTION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No jumping between menu categories: diners add the pairing deal in 1 tap right inside their dining cart tray with instant total recalculation.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OWNER-CONTROLLED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C1917"/>
                </a:solidFill>
                <a:latin typeface="Georgia"/>
              </a:defRPr>
            </a:pPr>
            <a:r>
              <a:t>Reward Gateway: Instagram Story vs. Google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57534E"/>
                </a:solidFill>
                <a:latin typeface="Arial"/>
              </a:defRPr>
            </a:pPr>
            <a:r>
              <a:t>The restaurant owner chooses how diners unlock their free food item or table discount.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Option A: 5-Star Google Review Boost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⭐ Diner drafts an AI dish-specific 5-star review.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⭐ Unlocks the Lucky Wheel or 15% table discount voucher upon posting to Google Maps.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⭐ Drives maximum Google SEO rank, local search discovery, and walk-in footfall.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⭐ Best for: New restaurants or locations needing 500+ Google Maps reviews fast.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B2777"/>
                </a:solidFill>
                <a:latin typeface="Georgia"/>
              </a:defRPr>
            </a:pPr>
            <a:r>
              <a:t>Option B: Viral Instagram Story Share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📸 Diner generates a 9:16 vertical Instagram Story card featuring their table dish.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📸 Mentions @restaurant and location tag to unlock their free dessert or bill discount.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📸 Taps into diners' authentic local followers for massive peer-to-peer social reach.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📸 Best for: High-energy cafes, bars, rooftop lounges, and youth-centric brands.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85D04"/>
                </a:solidFill>
                <a:latin typeface="Arial"/>
              </a:defRPr>
            </a:pPr>
            <a:r>
              <a:t>💡 Owner's Choice: Set to Google Review, Instagram Story, or Dual Mode (Diner's Choice) in 1 click from Admin Settings.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SOCIAL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Georgia"/>
              </a:defRPr>
            </a:pPr>
            <a:r>
              <a:t>Viral 9:16 Instagram Story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D6D3D1"/>
                </a:solidFill>
                <a:latin typeface="Arial"/>
              </a:defRPr>
            </a:pPr>
            <a:r>
              <a:t>Turn every dish ordered into branded organic social impressions across Pune.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29768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9966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E85D04"/>
                </a:solidFill>
                <a:latin typeface="Georgia"/>
              </a:defRPr>
            </a:pPr>
            <a:r>
              <a:t>How the 9:16 Social Story Engine Works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📱 Automated Branded Cards: Diners tap 'Share to Story' on any signature dish. Menuz automatically generates a professional 9:16 vertical card with the dish photo, restaurant logo, and diner quote.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📱 Verified 5★ Sticker &amp; Tags: Pre-configured with @restaurant handle, location geo-tag, and 'Verified 5-Star Experience' sticker for authentic social credibility.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📱 Direct 1-Click Sharing: Direct integration with Instagram Stories and WhatsApp Status — zero manual editing or graphic design required by the guest.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📱 Zero Influencer Marketing Spend: Replaces expensive paid influencer campaigns with hundreds of genuine table diners sharing authentic dining moments every week.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REPUTATION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C1917"/>
                </a:solidFill>
                <a:latin typeface="Georgia"/>
              </a:defRPr>
            </a:pPr>
            <a:r>
              <a:t>Public 5★ Reviews. Private Floor Intercepts.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57534E"/>
                </a:solidFill>
                <a:latin typeface="Arial"/>
              </a:defRPr>
            </a:pPr>
            <a:r>
              <a:t>How Menuz channels happy diners to Google Maps while intercepting complaints silently on the floor.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85D04"/>
                </a:solidFill>
                <a:latin typeface="Georgia"/>
              </a:defRPr>
            </a:pPr>
            <a:r>
              <a:t>4-5★ Reviews -&gt; Public Google Maps</a:t>
            </a:r>
          </a:p>
          <a:p>
            <a:pPr>
              <a:spcBef>
                <a:spcPts val="6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Positive diners get AI-assisted dish reviews highlighting specialty recipes and ambiance, boosting your Google search rank.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  <a:latin typeface="Georgia"/>
              </a:defRPr>
            </a:pPr>
            <a:r>
              <a:t>1-3★ Reviews -&gt; Silent Manager Shield</a:t>
            </a:r>
          </a:p>
          <a:p>
            <a:pPr>
              <a:spcBef>
                <a:spcPts val="6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Ratings under 4 stars NEVER reach Google. A silent floor alert immediately buzzes the manager's tablet with table number.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5196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  <a:latin typeface="Georgia"/>
              </a:defRPr>
            </a:pPr>
            <a:r>
              <a:t>Tableside Complaint Resolution</a:t>
            </a:r>
          </a:p>
          <a:p>
            <a:pPr>
              <a:spcBef>
                <a:spcPts val="6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Floor manager visits Table 4 immediately with a fresh dish or personal apology, converting an upset guest before they leave.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5196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85D04"/>
                </a:solidFill>
                <a:latin typeface="Georgia"/>
              </a:defRPr>
            </a:pPr>
            <a:r>
              <a:t>Zero Negative Public Footprint</a:t>
            </a:r>
          </a:p>
          <a:p>
            <a:pPr>
              <a:spcBef>
                <a:spcPts val="6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Protects your 4.8★ rating permanently while giving kitchen and management real feedback to improve service quality.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FRAUD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Georgia"/>
              </a:defRPr>
            </a:pPr>
            <a:r>
              <a:t>Anti-Cheat Voucher Security &amp; Gamified Lucky Wheel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D6D3D1"/>
                </a:solidFill>
                <a:latin typeface="Arial"/>
              </a:defRPr>
            </a:pPr>
            <a:r>
              <a:t>Diners love winning table rewards — while owners are 100% protected against screenshot fraud.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29768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E85D04"/>
                </a:solidFill>
                <a:latin typeface="Georgia"/>
              </a:defRPr>
            </a:pPr>
            <a:r>
              <a:t>Interactive Lucky Wheel</a:t>
            </a:r>
          </a:p>
          <a:p>
            <a:pPr>
              <a:spcBef>
                <a:spcPts val="10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🎉 Exciting visual wheel spin immediately on QR scan.</a:t>
            </a:r>
          </a:p>
          <a:p>
            <a:pPr>
              <a:spcBef>
                <a:spcPts val="10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🎉 Customizable prizes: 15% off food bill, free signature dessert, or mocktail upgrade.</a:t>
            </a:r>
          </a:p>
          <a:p>
            <a:pPr>
              <a:spcBef>
                <a:spcPts val="10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🎉 Creates instant excitement at table entry, guaranteeing diners stay and dine.</a:t>
            </a:r>
          </a:p>
          <a:p>
            <a:pPr>
              <a:spcBef>
                <a:spcPts val="10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🎉 Ties reward redemption directly to billing.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429768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59669"/>
                </a:solidFill>
                <a:latin typeface="Georgia"/>
              </a:defRPr>
            </a:pPr>
            <a:r>
              <a:t>Triple Anti-Cheat Security</a:t>
            </a:r>
          </a:p>
          <a:p>
            <a:pPr>
              <a:spcBef>
                <a:spcPts val="1200"/>
              </a:spcBef>
              <a:defRPr sz="1100">
                <a:solidFill>
                  <a:srgbClr val="D6D3D1"/>
                </a:solidFill>
                <a:latin typeface="Arial"/>
              </a:defRPr>
            </a:pPr>
            <a:r>
              <a:t>🔒 Live 15-Minute Dynamic Clock: Voucher display features a live ticking seconds countdown. Reused screenshots or static forwarded images are instantly spotted and rejected.</a:t>
            </a:r>
          </a:p>
          <a:p>
            <a:pPr>
              <a:spcBef>
                <a:spcPts val="1200"/>
              </a:spcBef>
              <a:defRPr sz="1100">
                <a:solidFill>
                  <a:srgbClr val="D6D3D1"/>
                </a:solidFill>
                <a:latin typeface="Arial"/>
              </a:defRPr>
            </a:pPr>
            <a:r>
              <a:t>🔒 Waiter PIN Verification (1234): Server physically types PIN 1234 on diner's screen to permanently void the voucher upon billing.</a:t>
            </a:r>
          </a:p>
          <a:p>
            <a:pPr>
              <a:spcBef>
                <a:spcPts val="1200"/>
              </a:spcBef>
              <a:defRPr sz="1100">
                <a:solidFill>
                  <a:srgbClr val="D6D3D1"/>
                </a:solidFill>
                <a:latin typeface="Arial"/>
              </a:defRPr>
            </a:pPr>
            <a:r>
              <a:t>🔒 Single-Use Table Lock: Vouchers are cryptographically locked to Table X and session ID — cannot be passed around to other diners.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KITCHEN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C1917"/>
                </a:solidFill>
                <a:latin typeface="Georgia"/>
              </a:defRPr>
            </a:pPr>
            <a:r>
              <a:t>Direct Kitchen KOT &amp; Universal POS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57534E"/>
                </a:solidFill>
                <a:latin typeface="Arial"/>
              </a:defRPr>
            </a:pPr>
            <a:r>
              <a:t>Owner-controlled order dispatching with triple-redundant thermal printing failover.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5D04"/>
                </a:solidFill>
                <a:latin typeface="Georgia"/>
              </a:defRPr>
            </a:pPr>
            <a:r>
              <a:t>Mode A: Direct Auto-KOT to Kitchen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⚡ Fires 80mm ESC/POS thermal ticket directly in kitchen in 1 second.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⚡ Zero waiter re-typing — eliminates handwritten mistakes and delays.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⚡ Pre-configured preparation notes (spice level, allergen notes, guest tags).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⚡ Best for: High-turnover cafes, bistros, QSRs, and casual dining.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Georgia"/>
              </a:defRPr>
            </a:pPr>
            <a:r>
              <a:t>Mode B: Floor Captain Review First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👨‍✈️ Order appears on Captain / Manager Floor Tablet first for quick verification.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👨‍✈️ Captain checks bar inventory, course pacing, and guest preferences.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👨‍✈️ Captain taps 'Approve &amp; Fire' to send ticket to kitchen printers.</a:t>
            </a:r>
          </a:p>
          <a:p>
            <a:pPr>
              <a:spcBef>
                <a:spcPts val="900"/>
              </a:spcBef>
              <a:defRPr sz="1100">
                <a:solidFill>
                  <a:srgbClr val="1C1917"/>
                </a:solidFill>
                <a:latin typeface="Arial"/>
              </a:defRPr>
            </a:pPr>
            <a:r>
              <a:t>👨‍✈️ Best for: Multi-course fine dining, rooftop lounges, and banquet service.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FLOOR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Georgia"/>
              </a:defRPr>
            </a:pPr>
            <a:r>
              <a:t>Live Floor Operations Hub &amp; Kitchen Display (KDS)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D6D3D1"/>
                </a:solidFill>
                <a:latin typeface="Arial"/>
              </a:defRPr>
            </a:pPr>
            <a:r>
              <a:t>Real-time tablet command center for floor managers, captains, and kitchen expeditors.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29768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9966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E85D04"/>
                </a:solidFill>
                <a:latin typeface="Georgia"/>
              </a:defRPr>
            </a:pPr>
            <a:r>
              <a:t>Comprehensive Floor Operations Capabilities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📟 Real-Time Table Map &amp; Status: Live visual grid of all tables (Green = Active Dining, Amber = Ordering, Blue = Bill Requested, Gray = Vacant).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📟 Service Call Management: Instant push alerts for 'Waiter Summoned', 'Water Needed', or 'Bill Requested' with response time tracking.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📟 Kitchen Expeditor Timers: Color-coded order preparation clocks (Green &lt;15m, Amber 15-25m, Red &gt;25m) prevent table food delays.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📟 Universal POS Adapters: Native bi-directional adapters for Petpooja (50k+ Indian outlets), RoyalPOS (Pune local), Recaho (PCMC), and RanceLab Chains, plus direct ESC/POS hardware printing.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FAST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C1917"/>
                </a:solidFill>
                <a:latin typeface="Georgia"/>
              </a:defRPr>
            </a:pPr>
            <a:r>
              <a:t>5-Minute AI Onboarding Studio &amp; Multi-Tenant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57534E"/>
                </a:solidFill>
                <a:latin typeface="Arial"/>
              </a:defRPr>
            </a:pPr>
            <a:r>
              <a:t>Get any restaurant live in under 5 minutes with voice intake and partitioned cloud storage.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AI Menu &amp; Recipe Intake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VOICE &amp; 1-CLICK AUTO-DRAFT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Chefs speak or upload a photo of the paper menu. AI auto-extracts dish names, categorizes courses, drafts flavor notes, and calibrates spice ratings in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Partitioned Media Library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ISOLATED CLOUD STORAGE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Every partner restaurant has an isolated cloud image bank. High-res dish photography and branding are segregated permanently with zero cross-tenant clutter.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Standalone Branded Routes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CUSTOM URLS &amp; DOMAINS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Each restaurant operates on a dedicated URL (/r/:restaurantSlug) with custom brand theme, logo, and table tokens for direct Google Maps and bio links.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REGIONAL INCLUSIVITY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C1917"/>
                </a:solidFill>
                <a:latin typeface="Georgia"/>
              </a:defRPr>
            </a:pPr>
            <a:r>
              <a:t>Multilingual Dining: English Primary, Hindi &amp; Marathi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57534E"/>
                </a:solidFill>
                <a:latin typeface="Arial"/>
              </a:defRPr>
            </a:pPr>
            <a:r>
              <a:t>Preserving global appeal while honoring local hospitality and regional language preference.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85D04"/>
                </a:solidFill>
                <a:latin typeface="Georgia"/>
              </a:defRPr>
            </a:pPr>
            <a:r>
              <a:t>English (Default Primary)</a:t>
            </a:r>
          </a:p>
          <a:p>
            <a:pPr>
              <a:spcBef>
                <a:spcPts val="400"/>
              </a:spcBef>
              <a:defRPr sz="1000" b="1">
                <a:solidFill>
                  <a:srgbClr val="2563EB"/>
                </a:solidFill>
                <a:latin typeface="Arial"/>
              </a:defRPr>
            </a:pPr>
            <a:r>
              <a:t>STRICT RULE: ALWAYS FIRST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English is hardcoded as the primary launch language for 100% of devices. No arbitrary IP or browser locale redirection. Global diners feel instantly at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C1917"/>
                </a:solidFill>
                <a:latin typeface="Georgia"/>
              </a:defRPr>
            </a:pPr>
            <a:r>
              <a:t>हिन्दी (Hindi Native)</a:t>
            </a:r>
          </a:p>
          <a:p>
            <a:pPr>
              <a:spcBef>
                <a:spcPts val="400"/>
              </a:spcBef>
              <a:defRPr sz="1000" b="1">
                <a:solidFill>
                  <a:srgbClr val="059669"/>
                </a:solidFill>
                <a:latin typeface="Arial"/>
              </a:defRPr>
            </a:pPr>
            <a:r>
              <a:t>PHYSICAL 1-CLICK TOGGLE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Comprehensive native translation for Starters, Main Course, Biryani, special kitchen cooking notes (खास स्वयंपाक सूचना), and kitchen dispatch.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0312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C1917"/>
                </a:solidFill>
                <a:latin typeface="Georgia"/>
              </a:defRPr>
            </a:pPr>
            <a:r>
              <a:t>मराठी (Marathi Native)</a:t>
            </a:r>
          </a:p>
          <a:p>
            <a:pPr>
              <a:spcBef>
                <a:spcPts val="400"/>
              </a:spcBef>
              <a:defRPr sz="1000" b="1">
                <a:solidFill>
                  <a:srgbClr val="059669"/>
                </a:solidFill>
                <a:latin typeface="Arial"/>
              </a:defRPr>
            </a:pPr>
            <a:r>
              <a:t>LOCAL CULTURAL RESONANCE</a:t>
            </a:r>
          </a:p>
          <a:p>
            <a:pPr>
              <a:spcBef>
                <a:spcPts val="1400"/>
              </a:spcBef>
              <a:defRPr sz="1150">
                <a:solidFill>
                  <a:srgbClr val="57534E"/>
                </a:solidFill>
                <a:latin typeface="Arial"/>
              </a:defRPr>
            </a:pPr>
            <a:r>
              <a:t>Full regional translation celebrating Maharashtra's food culture (बिर्याणी, स्टार्टर्स, गोड पदार्थ, कॅप्टनला बोलवा), providing warm familiarity for family dining.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85D04"/>
                </a:solidFill>
                <a:latin typeface="Arial"/>
              </a:defRPr>
            </a:pPr>
            <a:r>
              <a:t>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Georgia"/>
              </a:defRPr>
            </a:pPr>
            <a:r>
              <a:t>Direct Access Onboarding (No Arbitrary Trials) &amp; 0% Commission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D6D3D1"/>
                </a:solidFill>
                <a:latin typeface="Arial"/>
              </a:defRPr>
            </a:pPr>
            <a:r>
              <a:t>You control access directly — granting complete capabilities to partner restaurants with transparent economics.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297680"/>
          </a:xfrm>
          <a:prstGeom prst="roundRect">
            <a:avLst/>
          </a:prstGeom>
          <a:solidFill>
            <a:srgbClr val="292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9966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E85D04"/>
                </a:solidFill>
                <a:latin typeface="Georgia"/>
              </a:defRPr>
            </a:pPr>
            <a:r>
              <a:t>Transparent Commercial Model &amp; Ownership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💼 Direct Access Onboarding: Removed arbitrary 7-day trial counters. As the platform owner, you grant full operational access directly to restaurants on demand.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💼 Flat ₹1,999 / Month Flat Subscription: Zero commission on food sales. Restaurants keep 100% of their billing revenue — saving thousands compared to 20-30% aggregator fees.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💼 100% Customer Data Ownership: Restaurants own their verified customer WhatsApp numbers and dining histories for festival and weekend remarketing.</a:t>
            </a:r>
          </a:p>
          <a:p>
            <a:pPr>
              <a:spcBef>
                <a:spcPts val="1200"/>
              </a:spcBef>
              <a:defRPr sz="1150">
                <a:solidFill>
                  <a:srgbClr val="FFFFFF"/>
                </a:solidFill>
                <a:latin typeface="Arial"/>
              </a:defRPr>
            </a:pPr>
            <a:r>
              <a:t>💼 High-Durability Acrylic Stands Included: Premium acrylic QR table stands and kitchen thermal printer configuration guides supplied on rollout.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Georgia"/>
              </a:defRPr>
            </a:pPr>
            <a:r>
              <a:t>Transform Your Restaurant with Menuz</a:t>
            </a:r>
          </a:p>
          <a:p>
            <a:pPr>
              <a:spcBef>
                <a:spcPts val="1000"/>
              </a:spcBef>
              <a:defRPr sz="1800">
                <a:solidFill>
                  <a:srgbClr val="E85D04"/>
                </a:solidFill>
                <a:latin typeface="Georgia"/>
              </a:defRPr>
            </a:pPr>
            <a:r>
              <a:t>Interactive Menus • Multiplayer Sync • Direct Kitchen KOT • Viral Growth • 0% Commission</a:t>
            </a:r>
          </a:p>
          <a:p>
            <a:pPr>
              <a:spcBef>
                <a:spcPts val="900"/>
              </a:spcBef>
              <a:defRPr sz="1350">
                <a:solidFill>
                  <a:srgbClr val="E7E5E4"/>
                </a:solidFill>
                <a:latin typeface="Arial"/>
              </a:defRPr>
            </a:pPr>
            <a:r>
              <a:t>✓  +22% Average Ticket Value via Smart Pairings &amp; Upsells</a:t>
            </a:r>
          </a:p>
          <a:p>
            <a:pPr>
              <a:spcBef>
                <a:spcPts val="900"/>
              </a:spcBef>
              <a:defRPr sz="1350">
                <a:solidFill>
                  <a:srgbClr val="E7E5E4"/>
                </a:solidFill>
                <a:latin typeface="Arial"/>
              </a:defRPr>
            </a:pPr>
            <a:r>
              <a:t>✓  +300 Verified 5-Star Reviews or Viral Instagram Stories Monthly</a:t>
            </a:r>
          </a:p>
          <a:p>
            <a:pPr>
              <a:spcBef>
                <a:spcPts val="900"/>
              </a:spcBef>
              <a:defRPr sz="1350">
                <a:solidFill>
                  <a:srgbClr val="E7E5E4"/>
                </a:solidFill>
                <a:latin typeface="Arial"/>
              </a:defRPr>
            </a:pPr>
            <a:r>
              <a:t>✓  Zero Lost Orders with Multi-Channel KOT Failover (Port 9100 / LAN / POS)</a:t>
            </a:r>
          </a:p>
          <a:p>
            <a:pPr>
              <a:spcBef>
                <a:spcPts val="900"/>
              </a:spcBef>
              <a:defRPr sz="1350">
                <a:solidFill>
                  <a:srgbClr val="E7E5E4"/>
                </a:solidFill>
                <a:latin typeface="Arial"/>
              </a:defRPr>
            </a:pPr>
            <a:r>
              <a:t>✓  Diner Service Response Times Cut from 10 Mins to Under 60 Seconds</a:t>
            </a:r>
          </a:p>
          <a:p>
            <a:pPr>
              <a:spcBef>
                <a:spcPts val="1800"/>
              </a:spcBef>
              <a:defRPr sz="1300" b="1">
                <a:solidFill>
                  <a:srgbClr val="F97316"/>
                </a:solidFill>
                <a:latin typeface="Arial"/>
              </a:defRPr>
            </a:pPr>
            <a:r>
              <a:t>Explore the Live Interactive Platform: stgtrgjrccx.github.io/menuz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
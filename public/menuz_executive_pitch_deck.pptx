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731520" cy="73152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Georgia"/>
              </a:defRPr>
            </a:pPr>
            <a:r>
              <a:t>MENUZ</a:t>
            </a:r>
          </a:p>
          <a:p>
            <a:pPr>
              <a:spcBef>
                <a:spcPts val="1000"/>
              </a:spcBef>
              <a:defRPr sz="2600">
                <a:solidFill>
                  <a:srgbClr val="E85D04"/>
                </a:solidFill>
                <a:latin typeface="Georgia"/>
              </a:defRPr>
            </a:pPr>
            <a:r>
              <a:t>The Restaurant Experience &amp; Kitchen Operating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7E5E4"/>
                </a:solidFill>
                <a:latin typeface="Arial"/>
              </a:defRPr>
            </a:pPr>
            <a:r>
              <a:t>Turn Every Table into High-Margin Orders, Real-Time Collaboration &amp; Direct Kitchen Precision.</a:t>
            </a:r>
          </a:p>
          <a:p>
            <a:pPr>
              <a:spcBef>
                <a:spcPts val="800"/>
              </a:spcBef>
              <a:defRPr sz="1300">
                <a:solidFill>
                  <a:srgbClr val="A8A29E"/>
                </a:solidFill>
                <a:latin typeface="Arial"/>
              </a:defRPr>
            </a:pPr>
            <a:r>
              <a:t>Multiplayer Table Sync • English / Hindi / Marathi • Direct Kitchen KOT • Chef AI Concierge • Viral Instagram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8716C"/>
                </a:solidFill>
                <a:latin typeface="Arial"/>
              </a:defRPr>
            </a:pPr>
            <a:r>
              <a:t>CONFIDENTIAL EXECUTIVE PRODUCT &amp; OPERATIONS DECK • 2026 EDITION • MENUZ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INDUSTRY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C1917"/>
                </a:solidFill>
                <a:latin typeface="Georgia"/>
              </a:defRPr>
            </a:pPr>
            <a:r>
              <a:t>The Three Critical Profit Leaks in Modern Dining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7534E"/>
                </a:solidFill>
                <a:latin typeface="Arial"/>
              </a:defRPr>
            </a:pPr>
            <a:r>
              <a:t>Why traditional paper menus and standalone POS terminals cost restaurants up to 30% in lost revenue.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01. Diners Left Without Guidance</a:t>
            </a:r>
          </a:p>
          <a:p>
            <a:pPr>
              <a:spcBef>
                <a:spcPts val="16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Waiters are rushed and under-trained. They cannot articulate chef heritage, secret recipes, or suggest high-margin wine &amp; cocktail pairings. Up to 40% of diners stick to safe, low-margin staples.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02. Brittle POS &amp; Delayed KOTs</a:t>
            </a:r>
          </a:p>
          <a:p>
            <a:pPr>
              <a:spcBef>
                <a:spcPts val="16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Cloud-only POS systems drop orders during peak Wi-Fi fluctuations. Orders pile up, kitchen preparation gets delayed, and hungry guests experience frustrating table waits.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03. Lost Reviews &amp; Language Gaps</a:t>
            </a:r>
          </a:p>
          <a:p>
            <a:pPr>
              <a:spcBef>
                <a:spcPts val="16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Satisfied guests leave without posting a Google review, while one upset guest posts a permanent 1-star rating. Furthermore, non-English speaking diners face awkward communication hurdles.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COMPREHENSIVE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C1917"/>
                </a:solidFill>
                <a:latin typeface="Georgia"/>
              </a:defRPr>
            </a:pPr>
            <a:r>
              <a:t>The Menuz Connected Dining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7534E"/>
                </a:solidFill>
                <a:latin typeface="Arial"/>
              </a:defRPr>
            </a:pPr>
            <a:r>
              <a:t>Six integrated layers designed for diners, kitchen brigades, and restaurant owners.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87121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1917"/>
                </a:solidFill>
                <a:latin typeface="Georgia"/>
              </a:defRPr>
            </a:pPr>
            <a:r>
              <a:t>📱 Real-Time Multiplayer Table Sync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Multiple diners at the same table add dishes together with live guest indicators and joint tray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28416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87121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1917"/>
                </a:solidFill>
                <a:latin typeface="Georgia"/>
              </a:defRPr>
            </a:pPr>
            <a:r>
              <a:t>🌐 Multilingual Engine (EN / HI / MR)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English as the default primary language, with physical 1-click toggles for Hindi (हिन्दी) &amp; Marathi (मराठी).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28416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87121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1917"/>
                </a:solidFill>
                <a:latin typeface="Georgia"/>
              </a:defRPr>
            </a:pPr>
            <a:r>
              <a:t>⚡ Direct Kitchen KOT Engine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Owner-controlled direct routing to kitchen thermal printers &amp; POS lines, bypassing manual floor delays.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328416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87121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1917"/>
                </a:solidFill>
                <a:latin typeface="Georgia"/>
              </a:defRPr>
            </a:pPr>
            <a:r>
              <a:t>🧑‍🍳 Chef AI Sommelier &amp; Pairings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Curated wine/beverage pairings, auto-scrolling chef advice, and bundle discounts that increase order size by 20%+.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4023360"/>
            <a:ext cx="3328416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4251960"/>
            <a:ext cx="287121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1917"/>
                </a:solidFill>
                <a:latin typeface="Georgia"/>
              </a:defRPr>
            </a:pPr>
            <a:r>
              <a:t>📸 Viral Instagram Story Studio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Automated 9:16 vertical story cards featuring restaurant photography and tags for diner social sharing.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023360"/>
            <a:ext cx="3328416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4251960"/>
            <a:ext cx="287121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1917"/>
                </a:solidFill>
                <a:latin typeface="Georgia"/>
              </a:defRPr>
            </a:pPr>
            <a:r>
              <a:t>⭐ 4-Step Review Booster &amp; Floor Shield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AI review generator + Google Maps verification + spin-to-win dessert wheel, with private sub-4 star manager alerts.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MULTIPLAYER COLLABORATION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Georgia"/>
              </a:defRPr>
            </a:pPr>
            <a:r>
              <a:t>Live Table Cart Sync &amp; Joint Ordering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D6D3D1"/>
                </a:solidFill>
                <a:latin typeface="Arial"/>
              </a:defRPr>
            </a:pPr>
            <a:r>
              <a:t>Transform dining from isolated smartphone screens into an engaging group ritual.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11480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4389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85D04"/>
                </a:solidFill>
                <a:latin typeface="Georgia"/>
              </a:defRPr>
            </a:pPr>
            <a:r>
              <a:t>How Multiplayer Table Sync Works</a:t>
            </a:r>
          </a:p>
          <a:p>
            <a:pPr>
              <a:spcBef>
                <a:spcPts val="1000"/>
              </a:spcBef>
              <a:defRPr sz="1150">
                <a:solidFill>
                  <a:srgbClr val="D6D3D1"/>
                </a:solidFill>
                <a:latin typeface="Arial"/>
              </a:defRPr>
            </a:pPr>
            <a:r>
              <a:t>• Zero App Installation: Guests scan the table QR code and are instantly grouped into Table X's live shared dining session.</a:t>
            </a:r>
          </a:p>
          <a:p>
            <a:pPr>
              <a:spcBef>
                <a:spcPts val="1000"/>
              </a:spcBef>
              <a:defRPr sz="1150">
                <a:solidFill>
                  <a:srgbClr val="D6D3D1"/>
                </a:solidFill>
                <a:latin typeface="Arial"/>
              </a:defRPr>
            </a:pPr>
            <a:r>
              <a:t>• Multi-Guest Attribution: Each added dish displays the guest identifier (e.g. '👤 Guest 2') so everyone knows who ordered what.</a:t>
            </a:r>
          </a:p>
          <a:p>
            <a:pPr>
              <a:spcBef>
                <a:spcPts val="1000"/>
              </a:spcBef>
              <a:defRPr sz="1150">
                <a:solidFill>
                  <a:srgbClr val="D6D3D1"/>
                </a:solidFill>
                <a:latin typeface="Arial"/>
              </a:defRPr>
            </a:pPr>
            <a:r>
              <a:t>• Instant Tray Synchronization: Quantities, customizations, and spice levels update dynamically across all phones at the table in real-time.</a:t>
            </a:r>
          </a:p>
          <a:p>
            <a:pPr>
              <a:spcBef>
                <a:spcPts val="1000"/>
              </a:spcBef>
              <a:defRPr sz="1150">
                <a:solidFill>
                  <a:srgbClr val="D6D3D1"/>
                </a:solidFill>
                <a:latin typeface="Arial"/>
              </a:defRPr>
            </a:pPr>
            <a:r>
              <a:t>• Single Joint Kitchen Dispatch: Table can review the unified order, add special cooking notes, and dispatch directly to the kitchen in one click.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11480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480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59669"/>
                </a:solidFill>
                <a:latin typeface="Georgia"/>
              </a:defRPr>
            </a:pPr>
            <a:r>
              <a:t>Operational &amp; Business Impact</a:t>
            </a:r>
          </a:p>
          <a:p>
            <a:pPr>
              <a:spcBef>
                <a:spcPts val="14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✓ No Disjointed Tickets: Prevents duplicate or fragmented orders coming from the same table at different times.</a:t>
            </a:r>
          </a:p>
          <a:p>
            <a:pPr>
              <a:spcBef>
                <a:spcPts val="14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✓ Higher Average Order Value (+22%): Guests see appetizing items and cocktail pairings ordered by table companions and add their own.</a:t>
            </a:r>
          </a:p>
          <a:p>
            <a:pPr>
              <a:spcBef>
                <a:spcPts val="14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✓ Drastic Floor Labor Savings: Waitstaff no longer spend 8-12 minutes per table writing down individual orders; they focus on hospitality.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REGIONAL INCLUSIVITY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C1917"/>
                </a:solidFill>
                <a:latin typeface="Georgia"/>
              </a:defRPr>
            </a:pPr>
            <a:r>
              <a:t>Multilingual Dining: English Primary, Hindi &amp; Marathi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7534E"/>
                </a:solidFill>
                <a:latin typeface="Arial"/>
              </a:defRPr>
            </a:pPr>
            <a:r>
              <a:t>Preserving global appeal while honoring local hospitality and regional language preference.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English (Default Primary)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  <a:latin typeface="Arial"/>
              </a:defRPr>
            </a:pPr>
            <a:r>
              <a:t>STRICT RULE: ALWAYS FIRST</a:t>
            </a:r>
          </a:p>
          <a:p>
            <a:pPr>
              <a:spcBef>
                <a:spcPts val="14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English is hardcoded as the primary launch language for 100% of devices. No arbitrary IP or browser locale redirection. Global diners feel instantly at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C1917"/>
                </a:solidFill>
                <a:latin typeface="Georgia"/>
              </a:defRPr>
            </a:pPr>
            <a:r>
              <a:t>हिन्दी (Hindi Native)</a:t>
            </a:r>
          </a:p>
          <a:p>
            <a:pPr>
              <a:spcBef>
                <a:spcPts val="400"/>
              </a:spcBef>
              <a:defRPr sz="1000" b="1">
                <a:solidFill>
                  <a:srgbClr val="059669"/>
                </a:solidFill>
                <a:latin typeface="Arial"/>
              </a:defRPr>
            </a:pPr>
            <a:r>
              <a:t>PHYSICAL 1-CLICK TOGGLE</a:t>
            </a:r>
          </a:p>
          <a:p>
            <a:pPr>
              <a:spcBef>
                <a:spcPts val="14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Comprehensive native translation for Starters, Main Course, Biryani, special kitchen cooking notes (खास स्वयंपाक सूचना), and kitchen dispatch.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C1917"/>
                </a:solidFill>
                <a:latin typeface="Georgia"/>
              </a:defRPr>
            </a:pPr>
            <a:r>
              <a:t>मराठी (Marathi Native)</a:t>
            </a:r>
          </a:p>
          <a:p>
            <a:pPr>
              <a:spcBef>
                <a:spcPts val="400"/>
              </a:spcBef>
              <a:defRPr sz="1000" b="1">
                <a:solidFill>
                  <a:srgbClr val="059669"/>
                </a:solidFill>
                <a:latin typeface="Arial"/>
              </a:defRPr>
            </a:pPr>
            <a:r>
              <a:t>LOCAL CULTURAL RESONANCE</a:t>
            </a:r>
          </a:p>
          <a:p>
            <a:pPr>
              <a:spcBef>
                <a:spcPts val="14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Full regional translation celebrating Maharashtra's food culture (बिर्याणी, स्टार्टर्स, गोड पदार्थ, कॅप्टनला बोलवा), providing warm familiarity for family dining.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KITCHEN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C1917"/>
                </a:solidFill>
                <a:latin typeface="Georgia"/>
              </a:defRPr>
            </a:pPr>
            <a:r>
              <a:t>Direct Kitchen KOT: 100% Owner-Controlled &amp; 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7534E"/>
                </a:solidFill>
                <a:latin typeface="Arial"/>
              </a:defRPr>
            </a:pPr>
            <a:r>
              <a:t>Empowering the restaurant owner to choose between automated line printing and manual captain approval.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Mode A: Direct Auto-KOT to Kitchen</a:t>
            </a:r>
          </a:p>
          <a:p>
            <a:pPr>
              <a:spcBef>
                <a:spcPts val="800"/>
              </a:spcBef>
              <a:defRPr sz="1150">
                <a:solidFill>
                  <a:srgbClr val="1C1917"/>
                </a:solidFill>
                <a:latin typeface="Arial"/>
              </a:defRPr>
            </a:pPr>
            <a:r>
              <a:t>⚡ Instant thermal printout at kitchen station (ESC/POS 80mm)</a:t>
            </a:r>
          </a:p>
          <a:p>
            <a:pPr>
              <a:spcBef>
                <a:spcPts val="800"/>
              </a:spcBef>
              <a:defRPr sz="1150">
                <a:solidFill>
                  <a:srgbClr val="1C1917"/>
                </a:solidFill>
                <a:latin typeface="Arial"/>
              </a:defRPr>
            </a:pPr>
            <a:r>
              <a:t>⚡ Zero waiter bottleneck — cuts order lead time by 7-10 minutes</a:t>
            </a:r>
          </a:p>
          <a:p>
            <a:pPr>
              <a:spcBef>
                <a:spcPts val="800"/>
              </a:spcBef>
              <a:defRPr sz="1150">
                <a:solidFill>
                  <a:srgbClr val="1C1917"/>
                </a:solidFill>
                <a:latin typeface="Arial"/>
              </a:defRPr>
            </a:pPr>
            <a:r>
              <a:t>⚡ Direct bridge to Petpooja, Recaho, RanceLab, or RoyalPOS</a:t>
            </a:r>
          </a:p>
          <a:p>
            <a:pPr>
              <a:spcBef>
                <a:spcPts val="800"/>
              </a:spcBef>
              <a:defRPr sz="1150">
                <a:solidFill>
                  <a:srgbClr val="1C1917"/>
                </a:solidFill>
                <a:latin typeface="Arial"/>
              </a:defRPr>
            </a:pPr>
            <a:r>
              <a:t>⚡ Ideal for busy cafes, craft breweries, casual dining, and bistros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20240"/>
            <a:ext cx="512064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Georgia"/>
              </a:defRPr>
            </a:pPr>
            <a:r>
              <a:t>Mode B: Floor Captain Verification</a:t>
            </a:r>
          </a:p>
          <a:p>
            <a:pPr>
              <a:spcBef>
                <a:spcPts val="800"/>
              </a:spcBef>
              <a:defRPr sz="1150">
                <a:solidFill>
                  <a:srgbClr val="1C1917"/>
                </a:solidFill>
                <a:latin typeface="Arial"/>
              </a:defRPr>
            </a:pPr>
            <a:r>
              <a:t>🛡️ Order lands on Manager / Captain Hub tablet first</a:t>
            </a:r>
          </a:p>
          <a:p>
            <a:pPr>
              <a:spcBef>
                <a:spcPts val="800"/>
              </a:spcBef>
              <a:defRPr sz="1150">
                <a:solidFill>
                  <a:srgbClr val="1C1917"/>
                </a:solidFill>
                <a:latin typeface="Arial"/>
              </a:defRPr>
            </a:pPr>
            <a:r>
              <a:t>🛡️ Captain reviews special allergies, bar inventory, or course sequencing</a:t>
            </a:r>
          </a:p>
          <a:p>
            <a:pPr>
              <a:spcBef>
                <a:spcPts val="800"/>
              </a:spcBef>
              <a:defRPr sz="1150">
                <a:solidFill>
                  <a:srgbClr val="1C1917"/>
                </a:solidFill>
                <a:latin typeface="Arial"/>
              </a:defRPr>
            </a:pPr>
            <a:r>
              <a:t>🛡️ Captain taps 'Approve &amp; Fire' to send ticket to kitchen printers</a:t>
            </a:r>
          </a:p>
          <a:p>
            <a:pPr>
              <a:spcBef>
                <a:spcPts val="800"/>
              </a:spcBef>
              <a:defRPr sz="1150">
                <a:solidFill>
                  <a:srgbClr val="1C1917"/>
                </a:solidFill>
                <a:latin typeface="Arial"/>
              </a:defRPr>
            </a:pPr>
            <a:r>
              <a:t>🛡️ Ideal for luxury fine dining, multi-course banquet service, and VIP lounges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REVENUE MAXIMIZATION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C1917"/>
                </a:solidFill>
                <a:latin typeface="Georgia"/>
              </a:defRPr>
            </a:pPr>
            <a:r>
              <a:t>Smart Chef Pairings &amp; Bundle Upsell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7534E"/>
                </a:solidFill>
                <a:latin typeface="Arial"/>
              </a:defRPr>
            </a:pPr>
            <a:r>
              <a:t>Increasing average ticket sizes with contextual AI culinary recommendations.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Intelligent Pairing Logic</a:t>
            </a:r>
          </a:p>
          <a:p>
            <a:pPr>
              <a:spcBef>
                <a:spcPts val="14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When a diner adds an artisan curry or steak to their cart, Menuz automatically surfaces curated drink &amp; side pairings (e.g. Garlic Naan + Smoked Lassi or Cabernet Sauvignon).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Customizable Bundle Deals</a:t>
            </a:r>
          </a:p>
          <a:p>
            <a:pPr>
              <a:spcBef>
                <a:spcPts val="14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Owners can configure promotional pairing discounts (e.g. 10% or 15% off when added as a pair), giving diners irresistible value while growing net spend.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1-Click Tray Quick Add</a:t>
            </a:r>
          </a:p>
          <a:p>
            <a:pPr>
              <a:spcBef>
                <a:spcPts val="14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No complex navigation: diners tap '+ Add' directly inside the dining cart drawer, instantly recalculating taxes, GST, and totals.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INTERACTIVE AI CONCIERGE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Georgia"/>
              </a:defRPr>
            </a:pPr>
            <a:r>
              <a:t>Chef &amp; Owner AI Sommelier: Always Answering, Auto-Scrolling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D6D3D1"/>
                </a:solidFill>
                <a:latin typeface="Arial"/>
              </a:defRPr>
            </a:pPr>
            <a:r>
              <a:t>A personalized conversational AI trained on the head chef's secrets, lore, and flavor profiles.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420624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9966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85D04"/>
                </a:solidFill>
                <a:latin typeface="Georgia"/>
              </a:defRPr>
            </a:pPr>
            <a:r>
              <a:t>Key Conversational Capabilities &amp; UX Upgrades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✨ Auto-Scroll Response UX: When a diner taps a quick suggestion chip (e.g. 'What is the chef special?', 'Pair a cocktail with Truffle Pasta'), the chat window automatically scrolls down to the latest reply so the diner never has to scroll manually.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✨ Chef &amp; Owner Persona Voice: Speaks with authentic authority on heirloom ingredients, 24-hour slow braising techniques, and dietary safety.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✨ Precise Spice Calibration (1-5): Translates subjective spiciness into clear benchmarks (1 = Mild aromatic, 3 = Authentic warmth, 5 = Fiery chili).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✨ Allergy &amp; Dietary Protection: Instantly filters for vegan, Jain-friendly, nut-free, and gluten-free items, tagging the kitchen KOT with clear precautions.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SOCIAL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C1917"/>
                </a:solidFill>
                <a:latin typeface="Georgia"/>
              </a:defRPr>
            </a:pPr>
            <a:r>
              <a:t>Viral Food Instagram Story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7534E"/>
                </a:solidFill>
                <a:latin typeface="Arial"/>
              </a:defRPr>
            </a:pPr>
            <a:r>
              <a:t>Turn every dish ordered into organic social media footfall for the restaurant.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4864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Instant 9:16 Social Story Asset</a:t>
            </a:r>
          </a:p>
          <a:p>
            <a:pPr>
              <a:spcBef>
                <a:spcPts val="1000"/>
              </a:spcBef>
              <a:defRPr sz="1200">
                <a:solidFill>
                  <a:srgbClr val="1C1917"/>
                </a:solidFill>
                <a:latin typeface="Arial"/>
              </a:defRPr>
            </a:pPr>
            <a:r>
              <a:t>📸 Diners click 'Instagram Story' on any signature dish card.</a:t>
            </a:r>
          </a:p>
          <a:p>
            <a:pPr>
              <a:spcBef>
                <a:spcPts val="1000"/>
              </a:spcBef>
              <a:defRPr sz="1200">
                <a:solidFill>
                  <a:srgbClr val="1C1917"/>
                </a:solidFill>
                <a:latin typeface="Arial"/>
              </a:defRPr>
            </a:pPr>
            <a:r>
              <a:t>📸 Generates a beautiful 9:16 vertical card with high-res dish photography, restaurant branding, and chef highlights.</a:t>
            </a:r>
          </a:p>
          <a:p>
            <a:pPr>
              <a:spcBef>
                <a:spcPts val="1000"/>
              </a:spcBef>
              <a:defRPr sz="1200">
                <a:solidFill>
                  <a:srgbClr val="1C1917"/>
                </a:solidFill>
                <a:latin typeface="Arial"/>
              </a:defRPr>
            </a:pPr>
            <a:r>
              <a:t>📸 Equipped with 1-click Download and Share to Instagram Stories / WhatsApp Status.</a:t>
            </a:r>
          </a:p>
          <a:p>
            <a:pPr>
              <a:spcBef>
                <a:spcPts val="1000"/>
              </a:spcBef>
              <a:defRPr sz="1200">
                <a:solidFill>
                  <a:srgbClr val="1C1917"/>
                </a:solidFill>
                <a:latin typeface="Arial"/>
              </a:defRPr>
            </a:pPr>
            <a:r>
              <a:t>📸 Includes restaurant location tags and hashtags to drive local organic discovery.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47548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219456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Georgia"/>
              </a:defRPr>
            </a:pPr>
            <a:r>
              <a:t>Restaurateur Marketing Impact</a:t>
            </a:r>
          </a:p>
          <a:p>
            <a:pPr>
              <a:spcBef>
                <a:spcPts val="12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📈 Zero Influencer Costs: Authentic diner word-of-mouth reaches real friends and local foodies.</a:t>
            </a:r>
          </a:p>
          <a:p>
            <a:pPr>
              <a:spcBef>
                <a:spcPts val="12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📈 Consistent Visual Quality: Replaces unflattering flash photos with professional catalog photography.</a:t>
            </a:r>
          </a:p>
          <a:p>
            <a:pPr>
              <a:spcBef>
                <a:spcPts val="12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📈 Measurable Discovery: Diners' friends see the exact table dish and visit the restaurant.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PLATFORM MULTI-TENANCY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C1917"/>
                </a:solidFill>
                <a:latin typeface="Georgia"/>
              </a:defRPr>
            </a:pPr>
            <a:r>
              <a:t>Multi-Restaurant Persistence &amp; Master Image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7534E"/>
                </a:solidFill>
                <a:latin typeface="Arial"/>
              </a:defRPr>
            </a:pPr>
            <a:r>
              <a:t>Managing hundreds of partner restaurants with bulletproof data persistence and media organization.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Curated Restaurant Image Library</a:t>
            </a:r>
          </a:p>
          <a:p>
            <a:pPr>
              <a:spcBef>
                <a:spcPts val="14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The master image library is strictly organized by restaurant listings with high-resolution culinary photography partitioned per restaurant — eliminating media clutter.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Independent Branded Websites</a:t>
            </a:r>
          </a:p>
          <a:p>
            <a:pPr>
              <a:spcBef>
                <a:spcPts val="14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Each restaurant operates on its own dedicated route (/r/:restaurantSlug) or custom domain, featuring custom logos, cuisines, and styling.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Permanent LocalStorage Persistence</a:t>
            </a:r>
          </a:p>
          <a:p>
            <a:pPr>
              <a:spcBef>
                <a:spcPts val="1400"/>
              </a:spcBef>
              <a:defRPr sz="1200">
                <a:solidFill>
                  <a:srgbClr val="57534E"/>
                </a:solidFill>
                <a:latin typeface="Arial"/>
              </a:defRPr>
            </a:pPr>
            <a:r>
              <a:t>Onboarded restaurants, custom menus, and smart settings are permanently saved — ensuring newly registered restaurants never disappear on reload.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REPUTATION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C1917"/>
                </a:solidFill>
                <a:latin typeface="Georgia"/>
              </a:defRPr>
            </a:pPr>
            <a:r>
              <a:t>The 4-Step Review Booster &amp; Private Floor Shield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7534E"/>
                </a:solidFill>
                <a:latin typeface="Arial"/>
              </a:defRPr>
            </a:pPr>
            <a:r>
              <a:t>How Menuz turns happy diners into verified 5-star Google reviews while eliminating negative feedback.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572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85D04"/>
                </a:solidFill>
                <a:latin typeface="Georgia"/>
              </a:defRPr>
            </a:pPr>
            <a:r>
              <a:t>Step 1: AI Review Generator</a:t>
            </a:r>
          </a:p>
          <a:p>
            <a:pPr>
              <a:spcBef>
                <a:spcPts val="6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Diner taps 'Claim Reward'. AI drafts a tailored review based on ordered dishes, highlighting chef craftsmanship &amp; ambiance.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1206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572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85D04"/>
                </a:solidFill>
                <a:latin typeface="Georgia"/>
              </a:defRPr>
            </a:pPr>
            <a:r>
              <a:t>Step 2: Verification Check</a:t>
            </a:r>
          </a:p>
          <a:p>
            <a:pPr>
              <a:spcBef>
                <a:spcPts val="6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Smart verification gate ensures the guest has genuinely copied the review before proceeding to the reward step.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1206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4572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85D04"/>
                </a:solidFill>
                <a:latin typeface="Georgia"/>
              </a:defRPr>
            </a:pPr>
            <a:r>
              <a:t>Step 3: Spin-to-Win Wheel</a:t>
            </a:r>
          </a:p>
          <a:p>
            <a:pPr>
              <a:spcBef>
                <a:spcPts val="6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An interactive, celebratory lucky wheel lets the guest spin for a complimentary dessert, cocktail, or reward.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1206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343400"/>
            <a:ext cx="4572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Georgia"/>
              </a:defRPr>
            </a:pPr>
            <a:r>
              <a:t>Step 4: Sub-4 Star Floor Shield</a:t>
            </a:r>
          </a:p>
          <a:p>
            <a:pPr>
              <a:spcBef>
                <a:spcPts val="6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Ratings under 4 stars remain strictly internal and trigger an instant red alert on the manager console for tableside recovery.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PARTNERSHIP &amp;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Georgia"/>
              </a:defRPr>
            </a:pPr>
            <a:r>
              <a:t>Direct Access Onboarding (No Arbitrary Trials)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D6D3D1"/>
                </a:solidFill>
                <a:latin typeface="Arial"/>
              </a:defRPr>
            </a:pPr>
            <a:r>
              <a:t>You control access directly — granting instant, complete capabilities to partner restaurants.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420624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9966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85D04"/>
                </a:solidFill>
                <a:latin typeface="Georgia"/>
              </a:defRPr>
            </a:pPr>
            <a:r>
              <a:t>Fast 3-Stage Restaurant Launch Process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🚀 Step 1: Direct Access Grant &amp; Profile Setup (15 Mins)</a:t>
            </a:r>
            <a:br/>
            <a:r>
              <a:t>   Directly onboard the restaurant without trial restrictions or expiry counters. Upload logo, authentic photography, and configure chef backstory.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🚀 Step 2: Smart Operations Configuration (5 Mins)</a:t>
            </a:r>
            <a:br/>
            <a:r>
              <a:t>   Toggle Direct KOT routing, set Happy Hour surge pricing, configure Chef Pairings bundle discounts, and select language preferences.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🚀 Step 3: QR Stands Deployment &amp; Live Floor Operations</a:t>
            </a:r>
            <a:br/>
            <a:r>
              <a:t>   Place acrylic QR codes on dining tables. Diners experience real-time table sync, multilingual menus, and automated 5-star review generation.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Georgia"/>
              </a:defRPr>
            </a:pPr>
            <a:r>
              <a:t>Transform Your Restaurant Operations Today</a:t>
            </a:r>
          </a:p>
          <a:p>
            <a:pPr>
              <a:spcBef>
                <a:spcPts val="1200"/>
              </a:spcBef>
              <a:defRPr sz="1800">
                <a:solidFill>
                  <a:srgbClr val="E85D04"/>
                </a:solidFill>
                <a:latin typeface="Georgia"/>
              </a:defRPr>
            </a:pPr>
            <a:r>
              <a:t>Real-Time Collaboration • Multilingual Inclusivity • Direct Kitchen KOT • 5-Star Reputation</a:t>
            </a:r>
          </a:p>
          <a:p>
            <a:pPr>
              <a:spcBef>
                <a:spcPts val="1000"/>
              </a:spcBef>
              <a:defRPr sz="1400">
                <a:solidFill>
                  <a:srgbClr val="E7E5E4"/>
                </a:solidFill>
                <a:latin typeface="Arial"/>
              </a:defRPr>
            </a:pPr>
            <a:r>
              <a:t>✓  +22% Average Ticket Value via Smart Pairings</a:t>
            </a:r>
          </a:p>
          <a:p>
            <a:pPr>
              <a:spcBef>
                <a:spcPts val="1000"/>
              </a:spcBef>
              <a:defRPr sz="1400">
                <a:solidFill>
                  <a:srgbClr val="E7E5E4"/>
                </a:solidFill>
                <a:latin typeface="Arial"/>
              </a:defRPr>
            </a:pPr>
            <a:r>
              <a:t>✓  +300 Verified 5-Star Google Reviews Every Month</a:t>
            </a:r>
          </a:p>
          <a:p>
            <a:pPr>
              <a:spcBef>
                <a:spcPts val="1000"/>
              </a:spcBef>
              <a:defRPr sz="1400">
                <a:solidFill>
                  <a:srgbClr val="E7E5E4"/>
                </a:solidFill>
                <a:latin typeface="Arial"/>
              </a:defRPr>
            </a:pPr>
            <a:r>
              <a:t>✓  Zero Lost Orders with Multi-Channel KOT Failover</a:t>
            </a:r>
          </a:p>
          <a:p>
            <a:pPr>
              <a:spcBef>
                <a:spcPts val="1000"/>
              </a:spcBef>
              <a:defRPr sz="1400">
                <a:solidFill>
                  <a:srgbClr val="E7E5E4"/>
                </a:solidFill>
                <a:latin typeface="Arial"/>
              </a:defRPr>
            </a:pPr>
            <a:r>
              <a:t>✓  Full Hindi, Marathi &amp; English Language Coverage</a:t>
            </a:r>
          </a:p>
          <a:p>
            <a:pPr>
              <a:spcBef>
                <a:spcPts val="2000"/>
              </a:spcBef>
              <a:defRPr sz="1300" b="1">
                <a:solidFill>
                  <a:srgbClr val="F97316"/>
                </a:solidFill>
                <a:latin typeface="Arial"/>
              </a:defRPr>
            </a:pPr>
            <a:r>
              <a:t>Explore the Live Interactive Platform: stgtrgjrccx.github.io/menuz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